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6" r:id="rId6"/>
    <p:sldId id="278" r:id="rId7"/>
    <p:sldId id="288" r:id="rId8"/>
    <p:sldId id="277" r:id="rId9"/>
    <p:sldId id="279" r:id="rId10"/>
    <p:sldId id="280" r:id="rId11"/>
    <p:sldId id="289" r:id="rId12"/>
    <p:sldId id="283" r:id="rId13"/>
    <p:sldId id="282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52" autoAdjust="0"/>
  </p:normalViewPr>
  <p:slideViewPr>
    <p:cSldViewPr snapToGrid="0" showGuides="1">
      <p:cViewPr varScale="1">
        <p:scale>
          <a:sx n="70" d="100"/>
          <a:sy n="70" d="100"/>
        </p:scale>
        <p:origin x="738" y="6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82E7-BBD1-9202-F174-3FAED63E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24B9A-43A8-B45D-EF9D-3EC9E1C51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FAFA7-756C-69F2-71E4-ADDC8807C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0BF54-E1B5-04BE-D4E1-2BB5D10CC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18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25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052596"/>
          </a:xfrm>
        </p:spPr>
        <p:txBody>
          <a:bodyPr lIns="0" tIns="0" rIns="0" bIns="0" anchor="t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E-Commerce Sales Analysis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Data Storytelling &amp; Statistical Validation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1124" y="2294970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1051" y="1694465"/>
            <a:ext cx="3541486" cy="3469070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509827" y="3618630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AEAD1A-1001-0A53-A778-EF7D5DC8502A}"/>
              </a:ext>
            </a:extLst>
          </p:cNvPr>
          <p:cNvSpPr txBox="1"/>
          <p:nvPr/>
        </p:nvSpPr>
        <p:spPr>
          <a:xfrm>
            <a:off x="777922" y="5827594"/>
            <a:ext cx="183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PANKAJ YADAV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6890" y="1275373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Business Objective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1036" y="2354873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PROJECT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Regional performance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1537" y="3359656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Product demand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496" y="3259748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Sales trends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0644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Customer behavior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4063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693025" y="3433258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4681084" y="3503441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3CA61-077F-22CC-6239-FCD89E9900B8}"/>
              </a:ext>
            </a:extLst>
          </p:cNvPr>
          <p:cNvSpPr txBox="1"/>
          <p:nvPr/>
        </p:nvSpPr>
        <p:spPr>
          <a:xfrm>
            <a:off x="969039" y="5478243"/>
            <a:ext cx="10052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objective of this analysis is to evaluate the performance of the Pepper E-Commerce business and identify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24572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Dataset Overview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182" y="1097311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8319" y="2919638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6706" y="2928814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123448-0B37-4226-B26C-A3081E614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5256" y="2928814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2928814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3287700-63E7-4098-B825-B123C1113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1107833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4749795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8C71AAC-D0D2-4BBF-B302-54163A28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88520" y="1737248"/>
            <a:ext cx="311149" cy="4086658"/>
          </a:xfrm>
          <a:prstGeom prst="bentConnector2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1AB5AC-284A-472B-B8E5-2F198F4E9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3375819" y="3713388"/>
            <a:ext cx="750887" cy="917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1394D4E-BC7A-418D-B233-6C374456A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6"/>
            <a:endCxn id="73" idx="2"/>
          </p:cNvCxnSpPr>
          <p:nvPr/>
        </p:nvCxnSpPr>
        <p:spPr>
          <a:xfrm>
            <a:off x="5714206" y="3722564"/>
            <a:ext cx="781050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1AAA85B-D8C7-43BE-844A-625265015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3" idx="6"/>
            <a:endCxn id="75" idx="2"/>
          </p:cNvCxnSpPr>
          <p:nvPr/>
        </p:nvCxnSpPr>
        <p:spPr>
          <a:xfrm>
            <a:off x="8082756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741AA56-D9ED-492E-8385-5CB8274B1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76" idx="2"/>
            <a:endCxn id="77" idx="2"/>
          </p:cNvCxnSpPr>
          <p:nvPr/>
        </p:nvCxnSpPr>
        <p:spPr>
          <a:xfrm rot="10800000" flipV="1">
            <a:off x="8881268" y="1901583"/>
            <a:ext cx="12700" cy="3641962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1939132" y="1789747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Order ID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1819275" y="3610867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Order Date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4217194" y="3599454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Product Name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6607968" y="3599454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Category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69453F-B845-4467-8C29-7A6677641EC0}"/>
              </a:ext>
            </a:extLst>
          </p:cNvPr>
          <p:cNvSpPr/>
          <p:nvPr/>
        </p:nvSpPr>
        <p:spPr>
          <a:xfrm>
            <a:off x="8989218" y="3599454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Sales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7CFAFBF-6B2A-49A8-ADCE-FD94A08C87B3}"/>
              </a:ext>
            </a:extLst>
          </p:cNvPr>
          <p:cNvSpPr/>
          <p:nvPr/>
        </p:nvSpPr>
        <p:spPr>
          <a:xfrm>
            <a:off x="8989218" y="1655362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Customer Name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89218" y="5420435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/>
              <a:t>Profit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4228703" y="4631549"/>
            <a:ext cx="1348582" cy="46705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9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81D58D3-87D7-4D40-B59F-7F751F117F96}"/>
              </a:ext>
            </a:extLst>
          </p:cNvPr>
          <p:cNvSpPr/>
          <p:nvPr/>
        </p:nvSpPr>
        <p:spPr>
          <a:xfrm>
            <a:off x="10576718" y="3610867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C2972F-490F-4F2F-8A08-930B8C850374}"/>
              </a:ext>
            </a:extLst>
          </p:cNvPr>
          <p:cNvSpPr/>
          <p:nvPr/>
        </p:nvSpPr>
        <p:spPr>
          <a:xfrm>
            <a:off x="10576718" y="5431847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-364132" y="2348277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266700" y="4753379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929559-9616-1487-0778-CD9E060E9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62303" y="4741965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A528F-FFBC-CB91-902E-5A543932E5CA}"/>
              </a:ext>
            </a:extLst>
          </p:cNvPr>
          <p:cNvSpPr txBox="1"/>
          <p:nvPr/>
        </p:nvSpPr>
        <p:spPr>
          <a:xfrm>
            <a:off x="2032254" y="5351049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Discount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72FE7D-ED33-8633-67D7-B42A0D863B61}"/>
              </a:ext>
            </a:extLst>
          </p:cNvPr>
          <p:cNvCxnSpPr/>
          <p:nvPr/>
        </p:nvCxnSpPr>
        <p:spPr>
          <a:xfrm>
            <a:off x="4228703" y="614149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7CEAB1-FDA1-018A-74B3-23E87C0FCBE2}"/>
              </a:ext>
            </a:extLst>
          </p:cNvPr>
          <p:cNvCxnSpPr>
            <a:cxnSpLocks/>
          </p:cNvCxnSpPr>
          <p:nvPr/>
        </p:nvCxnSpPr>
        <p:spPr>
          <a:xfrm>
            <a:off x="3280570" y="5769934"/>
            <a:ext cx="431800" cy="78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21B072CA-3A56-7F35-0750-666C697E0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9244" y="4848283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C56E2-1321-6E75-4163-72958FA818E7}"/>
              </a:ext>
            </a:extLst>
          </p:cNvPr>
          <p:cNvSpPr txBox="1"/>
          <p:nvPr/>
        </p:nvSpPr>
        <p:spPr>
          <a:xfrm>
            <a:off x="4408575" y="543056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F9BA9D8-1887-413F-A6B5-6B1174C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2718" y="4872906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C3BBDE-C1B4-89C8-9F0D-866521B5B64C}"/>
              </a:ext>
            </a:extLst>
          </p:cNvPr>
          <p:cNvSpPr txBox="1"/>
          <p:nvPr/>
        </p:nvSpPr>
        <p:spPr>
          <a:xfrm>
            <a:off x="6838587" y="5454574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0B87E1-EC89-FCC8-915C-6ABD9415075E}"/>
              </a:ext>
            </a:extLst>
          </p:cNvPr>
          <p:cNvCxnSpPr>
            <a:cxnSpLocks/>
            <a:stCxn id="42" idx="4"/>
            <a:endCxn id="36" idx="0"/>
          </p:cNvCxnSpPr>
          <p:nvPr/>
        </p:nvCxnSpPr>
        <p:spPr>
          <a:xfrm flipH="1">
            <a:off x="4902994" y="4516314"/>
            <a:ext cx="17462" cy="331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96F902-318F-FF4A-BC91-8830B0AC3DB5}"/>
              </a:ext>
            </a:extLst>
          </p:cNvPr>
          <p:cNvCxnSpPr>
            <a:cxnSpLocks/>
            <a:stCxn id="73" idx="4"/>
          </p:cNvCxnSpPr>
          <p:nvPr/>
        </p:nvCxnSpPr>
        <p:spPr>
          <a:xfrm>
            <a:off x="7289006" y="4516314"/>
            <a:ext cx="0" cy="397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F04D9-49DE-0CB7-B199-43F459F77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" y="723522"/>
            <a:ext cx="10040751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3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Key Performance Indicators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Total Sales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Total Profit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Total Orders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Profit Margin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</a:rPr>
              <a:t> ₹10.6M</a:t>
            </a: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</a:rPr>
              <a:t>₹1.83M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</a:rPr>
              <a:t>3.49K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</a:rPr>
              <a:t>17.29%</a:t>
            </a: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.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73A57-8C07-453C-8611-1D99E8CDE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90601"/>
            <a:ext cx="12192000" cy="3513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16ABC0-EF46-4159-B4CF-45B14EA9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52902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E755E2-4A99-478A-BBEF-ACE16BEBF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39100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13421-44EB-4EA7-89AE-D8972D473414}"/>
              </a:ext>
            </a:extLst>
          </p:cNvPr>
          <p:cNvSpPr/>
          <p:nvPr/>
        </p:nvSpPr>
        <p:spPr>
          <a:xfrm>
            <a:off x="838205" y="5380738"/>
            <a:ext cx="2743195" cy="954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West</a:t>
            </a:r>
          </a:p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East</a:t>
            </a:r>
          </a:p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South</a:t>
            </a:r>
          </a:p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North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F7E025-DDEC-4748-AAE9-9FA2A4BF1E49}"/>
              </a:ext>
            </a:extLst>
          </p:cNvPr>
          <p:cNvSpPr/>
          <p:nvPr/>
        </p:nvSpPr>
        <p:spPr>
          <a:xfrm>
            <a:off x="838205" y="4748574"/>
            <a:ext cx="2743195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Sales performance across four: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176128-6116-4C3C-9CC3-394E6E116762}"/>
              </a:ext>
            </a:extLst>
          </p:cNvPr>
          <p:cNvSpPr/>
          <p:nvPr/>
        </p:nvSpPr>
        <p:spPr>
          <a:xfrm>
            <a:off x="4724403" y="5521007"/>
            <a:ext cx="2743195" cy="4670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/>
              <a:t>West region generates the highest sales.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DB637A-4822-4FE9-8AEA-11DEA7859049}"/>
              </a:ext>
            </a:extLst>
          </p:cNvPr>
          <p:cNvSpPr/>
          <p:nvPr/>
        </p:nvSpPr>
        <p:spPr>
          <a:xfrm>
            <a:off x="4724402" y="4830933"/>
            <a:ext cx="2743195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Insight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A68D61-8BDC-4C14-9F0D-CF0C946CD30A}"/>
              </a:ext>
            </a:extLst>
          </p:cNvPr>
          <p:cNvSpPr/>
          <p:nvPr/>
        </p:nvSpPr>
        <p:spPr>
          <a:xfrm>
            <a:off x="8610600" y="5521007"/>
            <a:ext cx="2743195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/>
              <a:t>Study successful strategies used in the West region and apply them to the North region.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4B18CA-09B5-4584-8D25-60B58EF68413}"/>
              </a:ext>
            </a:extLst>
          </p:cNvPr>
          <p:cNvSpPr/>
          <p:nvPr/>
        </p:nvSpPr>
        <p:spPr>
          <a:xfrm>
            <a:off x="8610600" y="4748574"/>
            <a:ext cx="2743195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Recommendation</a:t>
            </a:r>
            <a:endParaRPr lang="en-US" sz="1600" b="1" dirty="0">
              <a:solidFill>
                <a:schemeClr val="accent3">
                  <a:lumMod val="7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1764F-C07D-E208-4CC6-02593CFE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12" y="1055985"/>
            <a:ext cx="10051576" cy="29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Product Performance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292015" y="1357350"/>
            <a:ext cx="242887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3810570" y="1091094"/>
            <a:ext cx="242887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7766215" y="1357350"/>
            <a:ext cx="242887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5233965" y="5332295"/>
            <a:ext cx="242887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3AF9F-1D34-9F80-0AA7-3DFCB3B1A3F2}"/>
              </a:ext>
            </a:extLst>
          </p:cNvPr>
          <p:cNvSpPr txBox="1"/>
          <p:nvPr/>
        </p:nvSpPr>
        <p:spPr>
          <a:xfrm>
            <a:off x="3832846" y="2972921"/>
            <a:ext cx="1032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Camera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7CAAB-546A-CFE6-3717-6132F67E8341}"/>
              </a:ext>
            </a:extLst>
          </p:cNvPr>
          <p:cNvSpPr txBox="1"/>
          <p:nvPr/>
        </p:nvSpPr>
        <p:spPr>
          <a:xfrm>
            <a:off x="5295055" y="2943357"/>
            <a:ext cx="1032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Monitor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8A581-F3BD-83B7-D66A-19AE354DD0CA}"/>
              </a:ext>
            </a:extLst>
          </p:cNvPr>
          <p:cNvSpPr txBox="1"/>
          <p:nvPr/>
        </p:nvSpPr>
        <p:spPr>
          <a:xfrm>
            <a:off x="6831267" y="2908475"/>
            <a:ext cx="831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FAC17-23C8-EAA1-2CAD-BA0B8277FA89}"/>
              </a:ext>
            </a:extLst>
          </p:cNvPr>
          <p:cNvSpPr txBox="1"/>
          <p:nvPr/>
        </p:nvSpPr>
        <p:spPr>
          <a:xfrm>
            <a:off x="4558323" y="4121694"/>
            <a:ext cx="1023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C247FC-9BF8-130C-1800-423168F32B0C}"/>
              </a:ext>
            </a:extLst>
          </p:cNvPr>
          <p:cNvSpPr txBox="1"/>
          <p:nvPr/>
        </p:nvSpPr>
        <p:spPr>
          <a:xfrm>
            <a:off x="5743552" y="4094703"/>
            <a:ext cx="1372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Smartphone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8969B-34D5-00BB-5D01-0DEFA086BC28}"/>
              </a:ext>
            </a:extLst>
          </p:cNvPr>
          <p:cNvSpPr txBox="1"/>
          <p:nvPr/>
        </p:nvSpPr>
        <p:spPr>
          <a:xfrm>
            <a:off x="846161" y="1091094"/>
            <a:ext cx="222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Best selling category</a:t>
            </a:r>
            <a:r>
              <a:rPr lang="en-US" dirty="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92453-A33D-6EB7-3E33-ADF271B561CE}"/>
              </a:ext>
            </a:extLst>
          </p:cNvPr>
          <p:cNvSpPr txBox="1"/>
          <p:nvPr/>
        </p:nvSpPr>
        <p:spPr>
          <a:xfrm>
            <a:off x="846161" y="1580744"/>
            <a:ext cx="12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Electronics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968B4-DB6A-9215-B720-A660828772E6}"/>
              </a:ext>
            </a:extLst>
          </p:cNvPr>
          <p:cNvSpPr txBox="1"/>
          <p:nvPr/>
        </p:nvSpPr>
        <p:spPr>
          <a:xfrm>
            <a:off x="5058436" y="1152171"/>
            <a:ext cx="1487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products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550C4A-F1EE-C38D-CCA3-1A29CEDA7586}"/>
              </a:ext>
            </a:extLst>
          </p:cNvPr>
          <p:cNvSpPr txBox="1"/>
          <p:nvPr/>
        </p:nvSpPr>
        <p:spPr>
          <a:xfrm>
            <a:off x="586854" y="5095188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6B072-D510-E998-D1F0-3077CE13A06F}"/>
              </a:ext>
            </a:extLst>
          </p:cNvPr>
          <p:cNvSpPr txBox="1"/>
          <p:nvPr/>
        </p:nvSpPr>
        <p:spPr>
          <a:xfrm>
            <a:off x="460818" y="5464520"/>
            <a:ext cx="4724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Electronics products show the highest demand</a:t>
            </a:r>
            <a:r>
              <a:rPr lang="en-US" dirty="0"/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D4A9CB0-47E4-93CF-37EF-6C7970A9D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675" y="3501330"/>
            <a:ext cx="3734198" cy="26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C350-A8E4-B5DF-A6B9-E67D4DAE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0F7718C-A8D6-C788-C997-D728BC390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5146" y="733427"/>
            <a:ext cx="4612944" cy="403479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3814327-3682-7E74-FB7D-9FA4CEABA7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329A76-01C8-4A2B-8A7D-5DA3F2F9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18C6153-9BD6-B03C-0CDB-60D1EFE201D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Top Customers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C9909C-7344-6C10-F6FB-BBA636FEF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390A871-9119-AC4C-4886-D72220712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0531" y="1984375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PROJECT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BDBC63-3A10-4CDC-DA5A-479F6B6A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30262" y="1473086"/>
            <a:ext cx="3099641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Sophia Singh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44BE46-943B-1F0E-EC5D-7CCB330E1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0362" y="1388858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909BA6-16C7-1030-25DA-F5AEF8972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9282" y="3219740"/>
            <a:ext cx="3190621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Priya Sharma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9DEEC1-2870-0B3B-E2CE-13AA98F7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3667" y="3007424"/>
            <a:ext cx="964412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C77217A-05C9-DCD8-1C87-3759A6BC6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4575" y="1488259"/>
            <a:ext cx="3312121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David Yadav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915216-A9B3-6041-8758-E2627E792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8797" y="1403887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27CD165-1F98-E207-E793-899304FD9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4575" y="3147090"/>
            <a:ext cx="3412236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Olivia Smith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C00EB8B-5462-0D30-99E4-69D3EEEBD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4808" y="3047688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9CCFACCB-71CF-B2C8-DDC0-4188D72643B1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A67F984C-3E1E-2CC7-92BE-F7B508FA8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EF795FA8-AC9E-1F8A-3A44-318D002999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AB32DEE5-0878-E2E7-3DA2-14D03990D45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A48885DD-AE84-ADF2-E323-799B140B8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250B2F7F-88CC-F0B7-4B3A-BDE05C7C66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5A283D-FEDF-6B5B-9DCA-AEBF46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6696" y="4738132"/>
            <a:ext cx="3312121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Emma Smith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40E2FC-DC19-6467-DC33-5633555BE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1786" y="4586122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FC129D55-D132-EB7B-08D5-172DAA631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92" y="3102052"/>
            <a:ext cx="914400" cy="740997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6EB33664-1926-0AD4-403B-D42DCCE1B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6917" y="1519462"/>
            <a:ext cx="914400" cy="740997"/>
          </a:xfrm>
          <a:prstGeom prst="rect">
            <a:avLst/>
          </a:prstGeom>
        </p:spPr>
      </p:pic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A3380410-97E3-2F42-8692-F85291484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8762" y="3130516"/>
            <a:ext cx="914400" cy="740997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D9DB13B9-9AA8-66DD-3B84-6D67BC53C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5028" y="4630889"/>
            <a:ext cx="914400" cy="740997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C89E610D-0409-9FE9-92B7-93807434B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4990" y="3581400"/>
            <a:ext cx="914400" cy="740997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45504E5C-253B-A0BE-7440-EA7B3D656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3685" y="1453565"/>
            <a:ext cx="914400" cy="7409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4D5DA7D-35AB-5804-0F2C-6B5E41EAB8E0}"/>
              </a:ext>
            </a:extLst>
          </p:cNvPr>
          <p:cNvSpPr txBox="1"/>
          <p:nvPr/>
        </p:nvSpPr>
        <p:spPr>
          <a:xfrm>
            <a:off x="666925" y="5601829"/>
            <a:ext cx="556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5 customers contribute around </a:t>
            </a:r>
            <a:r>
              <a:rPr lang="en-US" b="1" dirty="0"/>
              <a:t>7% of total revenue</a:t>
            </a:r>
            <a:r>
              <a:rPr lang="en-US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0AD1E-009D-CE03-B1F7-501037AADA5D}"/>
              </a:ext>
            </a:extLst>
          </p:cNvPr>
          <p:cNvSpPr txBox="1"/>
          <p:nvPr/>
        </p:nvSpPr>
        <p:spPr>
          <a:xfrm>
            <a:off x="657735" y="6075771"/>
            <a:ext cx="41190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</a:t>
            </a:r>
            <a:endParaRPr lang="en-US" dirty="0"/>
          </a:p>
          <a:p>
            <a:r>
              <a:rPr lang="en-US" dirty="0"/>
              <a:t>Business has a diversified customer base.</a:t>
            </a:r>
          </a:p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924664A-720B-EAB5-28E4-6E1AE6286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908" y="4490115"/>
            <a:ext cx="3753811" cy="2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4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Hypothesis Testing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3008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Statistical Validation</a:t>
            </a:r>
            <a:endParaRPr lang="en-US" b="1" dirty="0">
              <a:latin typeface="+mj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31371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Statistical Result</a:t>
            </a:r>
            <a:endParaRPr lang="en-US" b="1" dirty="0">
              <a:latin typeface="+mj-lt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1632399" y="2635253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600" dirty="0"/>
              <a:t>Does region significantly impact sales?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42CE6B-862D-4B18-B10B-3436A7D24058}"/>
              </a:ext>
            </a:extLst>
          </p:cNvPr>
          <p:cNvSpPr/>
          <p:nvPr/>
        </p:nvSpPr>
        <p:spPr>
          <a:xfrm>
            <a:off x="6716039" y="2604468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600" dirty="0"/>
              <a:t>p-value = </a:t>
            </a:r>
            <a:r>
              <a:rPr lang="en-US" sz="1600" b="1" dirty="0"/>
              <a:t>0.03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30C0AE-B52E-4C65-A461-AD2F7D2362DE}"/>
              </a:ext>
            </a:extLst>
          </p:cNvPr>
          <p:cNvSpPr/>
          <p:nvPr/>
        </p:nvSpPr>
        <p:spPr>
          <a:xfrm>
            <a:off x="1632408" y="4710220"/>
            <a:ext cx="416287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b="1" dirty="0"/>
              <a:t>Test Used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783ACB-62DF-4DA3-9240-822BAEA78497}"/>
              </a:ext>
            </a:extLst>
          </p:cNvPr>
          <p:cNvSpPr/>
          <p:nvPr/>
        </p:nvSpPr>
        <p:spPr>
          <a:xfrm>
            <a:off x="6716039" y="4710220"/>
            <a:ext cx="416287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b="1" dirty="0"/>
              <a:t>Conclusion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1632399" y="2198171"/>
            <a:ext cx="416287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Business Question: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967C4C-72D9-469E-BB08-F31A36FBD11D}"/>
              </a:ext>
            </a:extLst>
          </p:cNvPr>
          <p:cNvSpPr/>
          <p:nvPr/>
        </p:nvSpPr>
        <p:spPr>
          <a:xfrm>
            <a:off x="6716039" y="2198171"/>
            <a:ext cx="416287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Content: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A2A928-93BB-46FE-9683-5A5BAADF87B3}"/>
              </a:ext>
            </a:extLst>
          </p:cNvPr>
          <p:cNvSpPr/>
          <p:nvPr/>
        </p:nvSpPr>
        <p:spPr>
          <a:xfrm>
            <a:off x="1632399" y="4242248"/>
            <a:ext cx="4162870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4D1B01-F5DB-4D77-80D5-5CACEA0F7047}"/>
              </a:ext>
            </a:extLst>
          </p:cNvPr>
          <p:cNvSpPr/>
          <p:nvPr/>
        </p:nvSpPr>
        <p:spPr>
          <a:xfrm>
            <a:off x="6604424" y="3453996"/>
            <a:ext cx="416287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Since: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AF5F79-058B-9A02-9E56-F65DD71C1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5888" y="3286295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DB0DF4-9598-FA16-0CDB-4D50F23E12A0}"/>
              </a:ext>
            </a:extLst>
          </p:cNvPr>
          <p:cNvSpPr txBox="1"/>
          <p:nvPr/>
        </p:nvSpPr>
        <p:spPr>
          <a:xfrm>
            <a:off x="1632399" y="338829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Hypothesis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A3AE1-0717-BE0A-F8AB-AE517C535E7C}"/>
              </a:ext>
            </a:extLst>
          </p:cNvPr>
          <p:cNvSpPr txBox="1"/>
          <p:nvPr/>
        </p:nvSpPr>
        <p:spPr>
          <a:xfrm>
            <a:off x="1632399" y="3691117"/>
            <a:ext cx="3671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H₀: Region does not affect sales</a:t>
            </a:r>
            <a:br>
              <a:rPr lang="en-US" sz="1600" dirty="0"/>
            </a:br>
            <a:r>
              <a:rPr lang="en-US" sz="1600" dirty="0"/>
              <a:t>H₁: Region affects sales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11C62-DD63-3BD3-2640-D2B59333E509}"/>
              </a:ext>
            </a:extLst>
          </p:cNvPr>
          <p:cNvSpPr txBox="1"/>
          <p:nvPr/>
        </p:nvSpPr>
        <p:spPr>
          <a:xfrm>
            <a:off x="1632399" y="5145818"/>
            <a:ext cx="24156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ANOVA Test</a:t>
            </a:r>
          </a:p>
          <a:p>
            <a:r>
              <a:rPr lang="en-US" sz="1600" dirty="0"/>
              <a:t>Significance Level</a:t>
            </a:r>
          </a:p>
          <a:p>
            <a:r>
              <a:rPr lang="el-GR" sz="1600" dirty="0"/>
              <a:t>α = 0.05</a:t>
            </a:r>
          </a:p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FF45F-6F1A-2C29-755E-011F88D94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09225" y="4542519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FA68B3-BCCC-8D56-C2FA-15B01A9C3312}"/>
              </a:ext>
            </a:extLst>
          </p:cNvPr>
          <p:cNvSpPr txBox="1"/>
          <p:nvPr/>
        </p:nvSpPr>
        <p:spPr>
          <a:xfrm>
            <a:off x="6505241" y="3814227"/>
            <a:ext cx="3628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0.03 &lt; 0.05</a:t>
            </a:r>
          </a:p>
          <a:p>
            <a:r>
              <a:rPr lang="en-US" sz="1600" dirty="0"/>
              <a:t>Null hypothesis is </a:t>
            </a:r>
            <a:r>
              <a:rPr lang="en-US" sz="1600" b="1" dirty="0"/>
              <a:t>rejected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78F9C-62AD-5187-F707-57E3D8193F51}"/>
              </a:ext>
            </a:extLst>
          </p:cNvPr>
          <p:cNvSpPr txBox="1"/>
          <p:nvPr/>
        </p:nvSpPr>
        <p:spPr>
          <a:xfrm>
            <a:off x="6509660" y="5145818"/>
            <a:ext cx="4816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Regional differences in sales are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Business Recommendations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266781" y="1873363"/>
            <a:ext cx="4268298" cy="4873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1" dirty="0"/>
              <a:t>Focus on Corporate Customers</a:t>
            </a:r>
          </a:p>
          <a:p>
            <a:pPr algn="ctr">
              <a:lnSpc>
                <a:spcPts val="1900"/>
              </a:lnSpc>
            </a:pP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904397" y="3378742"/>
            <a:ext cx="3764825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dirty="0"/>
              <a:t>Apply West region strategy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038C-66AF-4E81-9068-703EC0088620}"/>
              </a:ext>
            </a:extLst>
          </p:cNvPr>
          <p:cNvSpPr/>
          <p:nvPr/>
        </p:nvSpPr>
        <p:spPr>
          <a:xfrm>
            <a:off x="6707025" y="4651180"/>
            <a:ext cx="4268298" cy="2436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1" dirty="0"/>
              <a:t>Seasonal Marketing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CF892-94CB-C437-CBE5-5494961A9CEA}"/>
              </a:ext>
            </a:extLst>
          </p:cNvPr>
          <p:cNvSpPr txBox="1"/>
          <p:nvPr/>
        </p:nvSpPr>
        <p:spPr>
          <a:xfrm>
            <a:off x="7799623" y="2196309"/>
            <a:ext cx="1591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Bulk discounts</a:t>
            </a:r>
          </a:p>
          <a:p>
            <a:r>
              <a:rPr lang="en-US" sz="1600" dirty="0"/>
              <a:t>Corporate offers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BDC86-1AC0-AD68-BC20-8821BAC2F9D8}"/>
              </a:ext>
            </a:extLst>
          </p:cNvPr>
          <p:cNvSpPr txBox="1"/>
          <p:nvPr/>
        </p:nvSpPr>
        <p:spPr>
          <a:xfrm>
            <a:off x="7799623" y="2941382"/>
            <a:ext cx="235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Improve North Region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22279-8595-5214-71EE-FD58B0F1AA0F}"/>
              </a:ext>
            </a:extLst>
          </p:cNvPr>
          <p:cNvSpPr txBox="1"/>
          <p:nvPr/>
        </p:nvSpPr>
        <p:spPr>
          <a:xfrm>
            <a:off x="7799623" y="3747099"/>
            <a:ext cx="2759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Loyalty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3A6B84-148B-3DED-5628-6A603C8AE97F}"/>
              </a:ext>
            </a:extLst>
          </p:cNvPr>
          <p:cNvSpPr txBox="1"/>
          <p:nvPr/>
        </p:nvSpPr>
        <p:spPr>
          <a:xfrm>
            <a:off x="7799623" y="4222118"/>
            <a:ext cx="2635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Reward repeat customers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8DCA93-C124-2E2A-F24F-561AED419D1D}"/>
              </a:ext>
            </a:extLst>
          </p:cNvPr>
          <p:cNvSpPr txBox="1"/>
          <p:nvPr/>
        </p:nvSpPr>
        <p:spPr>
          <a:xfrm>
            <a:off x="7799623" y="5060253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Campaigns during low months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3FC006-573D-52BA-B43D-FB1D2693C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55" y="874814"/>
            <a:ext cx="5744570" cy="574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0937C-192E-6B3B-AC88-A89CBC57B175}"/>
              </a:ext>
            </a:extLst>
          </p:cNvPr>
          <p:cNvSpPr txBox="1"/>
          <p:nvPr/>
        </p:nvSpPr>
        <p:spPr>
          <a:xfrm>
            <a:off x="444036" y="4938803"/>
            <a:ext cx="113039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Thank you for your time and attention.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I hope this analysis provides valuable insights for better business decisions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096AA-D7D2-91E0-D3CE-D0A6680EF7B3}"/>
              </a:ext>
            </a:extLst>
          </p:cNvPr>
          <p:cNvSpPr txBox="1"/>
          <p:nvPr/>
        </p:nvSpPr>
        <p:spPr>
          <a:xfrm>
            <a:off x="1378424" y="6373504"/>
            <a:ext cx="183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PANKAJ YADAV</a:t>
            </a: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100</TotalTime>
  <Words>373</Words>
  <Application>Microsoft Office PowerPoint</Application>
  <PresentationFormat>Widescreen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Segoe UI Light</vt:lpstr>
      <vt:lpstr>Office Theme</vt:lpstr>
      <vt:lpstr>E-Commerce Sales Analysis Data Storytelling &amp; Statistical Validation</vt:lpstr>
      <vt:lpstr>Project analysis slide 2</vt:lpstr>
      <vt:lpstr>Project analysis slide 4</vt:lpstr>
      <vt:lpstr>PowerPoint Presentation</vt:lpstr>
      <vt:lpstr>Project analysis slide 3</vt:lpstr>
      <vt:lpstr>Project analysis slide 5</vt:lpstr>
      <vt:lpstr>Project analysis slide 6</vt:lpstr>
      <vt:lpstr>Project analysis slide 2</vt:lpstr>
      <vt:lpstr>Project analysis slide 8</vt:lpstr>
      <vt:lpstr>Project analysis slide 10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srivastava</dc:creator>
  <cp:lastModifiedBy>Shreya srivastava</cp:lastModifiedBy>
  <cp:revision>3</cp:revision>
  <dcterms:created xsi:type="dcterms:W3CDTF">2026-03-10T16:48:47Z</dcterms:created>
  <dcterms:modified xsi:type="dcterms:W3CDTF">2026-03-11T07:38:06Z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